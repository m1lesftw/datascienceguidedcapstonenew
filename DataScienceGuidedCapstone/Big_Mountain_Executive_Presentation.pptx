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2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3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E2761"/>
                </a:solidFill>
                <a:latin typeface="Calibri"/>
              </a:defRPr>
            </a:pPr>
            <a:r>
              <a:rPr sz="1300" b="0" i="0" u="none" strike="noStrike">
                <a:solidFill>
                  <a:srgbClr val="1E2761"/>
                </a:solidFill>
                <a:latin typeface="Calibri"/>
              </a:rPr>
              <a:t>Test-Set Error by Model (lower is better)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Test MAE ($)</c:v>
                </c:pt>
              </c:strCache>
            </c:strRef>
          </c:tx>
          <c:spPr>
            <a:solidFill>
              <a:srgbClr val="8892B0"/>
            </a:solidFill>
            <a:effectLst/>
          </c:spPr>
          <c:invertIfNegative val="0"/>
          <c:dLbls>
            <c:numFmt formatCode="&quot;$&quot;0.0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E2761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8892B0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5B6BAE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1E2761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Baseline
(average price)</c:v>
                  </c:pt>
                  <c:pt idx="1">
                    <c:v>Linear
Regression</c:v>
                  </c:pt>
                  <c:pt idx="2">
                    <c:v>Random
Forest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19.14</c:v>
                </c:pt>
                <c:pt idx="1">
                  <c:v>11.79</c:v>
                </c:pt>
                <c:pt idx="2">
                  <c:v>9.54</c:v>
                </c:pt>
              </c:numCache>
            </c:numRef>
          </c:val>
        </c:ser>
        <c:dLbls>
          <c:numFmt formatCode="&quot;$&quot;0.00" sourceLinked="0"/>
          <c:txPr>
            <a:bodyPr/>
            <a:lstStyle/>
            <a:p>
              <a:pPr>
                <a:defRPr b="0" i="0" strike="noStrike" sz="1200" u="none">
                  <a:solidFill>
                    <a:srgbClr val="1E2761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44506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4E7F1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100" b="0" i="0" u="none" strike="noStrike">
                    <a:solidFill>
                      <a:srgbClr val="6B7590"/>
                    </a:solidFill>
                    <a:latin typeface="Arial"/>
                  </a:defRPr>
                </a:pPr>
                <a:r>
                  <a:rPr sz="1100" b="0" i="0" u="none" strike="noStrike">
                    <a:solidFill>
                      <a:srgbClr val="6B7590"/>
                    </a:solidFill>
                    <a:latin typeface="Arial"/>
                  </a:rPr>
                  <a:t>MAE ($)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44506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E2761"/>
                </a:solidFill>
                <a:latin typeface="Calibri"/>
              </a:defRPr>
            </a:pPr>
            <a:r>
              <a:rPr sz="1300" b="0" i="0" u="none" strike="noStrike">
                <a:solidFill>
                  <a:srgbClr val="1E2761"/>
                </a:solidFill>
                <a:latin typeface="Calibri"/>
              </a:rPr>
              <a:t>Predicted Ticket-Price Impact of Closing Runs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Change in supported ticket price ($)</c:v>
                </c:pt>
              </c:strCache>
            </c:strRef>
          </c:tx>
          <c:spPr>
            <a:solidFill>
              <a:srgbClr val="C0392B"/>
            </a:solidFill>
            <a:ln w="31750" cap="flat">
              <a:solidFill>
                <a:srgbClr val="C0392B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C0392B"/>
              </a:solidFill>
              <a:ln w="9525" cap="flat">
                <a:solidFill>
                  <a:srgbClr val="C0392B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Sheet1!$A$2:$A$11</c:f>
              <c:multiLvlStrCache>
                <c:ptCount val="10"/>
                <c:lvl>
                  <c:pt idx="0">
                    <c:v>1</c:v>
                  </c:pt>
                  <c:pt idx="1">
                    <c:v>2</c:v>
                  </c:pt>
                  <c:pt idx="2">
                    <c:v>3</c:v>
                  </c:pt>
                  <c:pt idx="3">
                    <c:v>4</c:v>
                  </c:pt>
                  <c:pt idx="4">
                    <c:v>5</c:v>
                  </c:pt>
                  <c:pt idx="5">
                    <c:v>6</c:v>
                  </c:pt>
                  <c:pt idx="6">
                    <c:v>7</c:v>
                  </c:pt>
                  <c:pt idx="7">
                    <c:v>8</c:v>
                  </c:pt>
                  <c:pt idx="8">
                    <c:v>9</c:v>
                  </c:pt>
                  <c:pt idx="9">
                    <c:v>10</c:v>
                  </c:pt>
                </c:lvl>
              </c:multiLvlStrCache>
            </c:multiLvl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0</c:v>
                </c:pt>
                <c:pt idx="1">
                  <c:v>-0.41</c:v>
                </c:pt>
                <c:pt idx="2">
                  <c:v>-0.67</c:v>
                </c:pt>
                <c:pt idx="3">
                  <c:v>-0.67</c:v>
                </c:pt>
                <c:pt idx="4">
                  <c:v>-0.67</c:v>
                </c:pt>
                <c:pt idx="5">
                  <c:v>-1.26</c:v>
                </c:pt>
                <c:pt idx="6">
                  <c:v>-1.26</c:v>
                </c:pt>
                <c:pt idx="7">
                  <c:v>-1.26</c:v>
                </c:pt>
                <c:pt idx="8">
                  <c:v>-1.71</c:v>
                </c:pt>
                <c:pt idx="9">
                  <c:v>-1.81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100" b="0" i="0" u="none" strike="noStrike">
                    <a:solidFill>
                      <a:srgbClr val="6B7590"/>
                    </a:solidFill>
                    <a:latin typeface="Arial"/>
                  </a:defRPr>
                </a:pPr>
                <a:r>
                  <a:rPr sz="1100" b="0" i="0" u="none" strike="noStrike">
                    <a:solidFill>
                      <a:srgbClr val="6B7590"/>
                    </a:solidFill>
                    <a:latin typeface="Arial"/>
                  </a:rPr>
                  <a:t>Number of runs closed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44506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4E7F1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100" b="0" i="0" u="none" strike="noStrike">
                    <a:solidFill>
                      <a:srgbClr val="6B7590"/>
                    </a:solidFill>
                    <a:latin typeface="Arial"/>
                  </a:defRPr>
                </a:pPr>
                <a:r>
                  <a:rPr sz="1100" b="0" i="0" u="none" strike="noStrike">
                    <a:solidFill>
                      <a:srgbClr val="6B7590"/>
                    </a:solidFill>
                    <a:latin typeface="Arial"/>
                  </a:rPr>
                  <a:t>Change in ticket price ($)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44506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E2761"/>
                </a:solidFill>
                <a:latin typeface="Calibri"/>
              </a:defRPr>
            </a:pPr>
            <a:r>
              <a:rPr sz="1300" b="0" i="0" u="none" strike="noStrike">
                <a:solidFill>
                  <a:srgbClr val="1E2761"/>
                </a:solidFill>
                <a:latin typeface="Calibri"/>
              </a:rPr>
              <a:t>Projected Additional Season Revenue by Scenario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Projected season revenue impact ($)</c:v>
                </c:pt>
              </c:strCache>
            </c:strRef>
          </c:tx>
          <c:spPr>
            <a:solidFill>
              <a:srgbClr val="2E7D32"/>
            </a:solidFill>
            <a:effectLst/>
          </c:spPr>
          <c:invertIfNegative val="0"/>
          <c:dLbls>
            <c:numFmt formatCode="&quot;$&quot;#,##0" sourceLinked="0"/>
            <c:txPr>
              <a:bodyPr/>
              <a:lstStyle/>
              <a:p>
                <a:pPr>
                  <a:defRPr b="0" i="0" strike="noStrike" sz="1150" u="none">
                    <a:solidFill>
                      <a:srgbClr val="1E2761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2E7D32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6FA271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AEB4C4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Scenario 2
+1 run, +150ft drop,
+1 chair lift</c:v>
                  </c:pt>
                  <c:pt idx="1">
                    <c:v>Scenario 3
Scenario 2 +
2 ac snowmaking</c:v>
                  </c:pt>
                  <c:pt idx="2">
                    <c:v>Scenario 4
+0.2mi longest run,
+4 ac snowmaking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3474638</c:v>
                </c:pt>
                <c:pt idx="1">
                  <c:v>3474638</c:v>
                </c:pt>
                <c:pt idx="2">
                  <c:v>0</c:v>
                </c:pt>
              </c:numCache>
            </c:numRef>
          </c:val>
        </c:ser>
        <c:dLbls>
          <c:numFmt formatCode="&quot;$&quot;#,##0" sourceLinked="0"/>
          <c:txPr>
            <a:bodyPr/>
            <a:lstStyle/>
            <a:p>
              <a:pPr>
                <a:defRPr b="0" i="0" strike="noStrike" sz="1150" u="none">
                  <a:solidFill>
                    <a:srgbClr val="1E2761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44506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4E7F1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100" b="0" i="0" u="none" strike="noStrike">
                    <a:solidFill>
                      <a:srgbClr val="6B7590"/>
                    </a:solidFill>
                    <a:latin typeface="Arial"/>
                  </a:defRPr>
                </a:pPr>
                <a:r>
                  <a:rPr sz="1100" b="0" i="0" u="none" strike="noStrike">
                    <a:solidFill>
                      <a:srgbClr val="6B7590"/>
                    </a:solidFill>
                    <a:latin typeface="Arial"/>
                  </a:rPr>
                  <a:t>Revenue ($)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44506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3291840"/>
            <a:ext cx="4206240" cy="3291840"/>
          </a:xfrm>
          <a:prstGeom prst="triangle">
            <a:avLst/>
          </a:prstGeom>
          <a:solidFill>
            <a:srgbClr val="141B49"/>
          </a:solidFill>
          <a:ln/>
        </p:spPr>
      </p:sp>
      <p:sp>
        <p:nvSpPr>
          <p:cNvPr id="3" name="Shape 1"/>
          <p:cNvSpPr/>
          <p:nvPr/>
        </p:nvSpPr>
        <p:spPr>
          <a:xfrm>
            <a:off x="10149840" y="2331720"/>
            <a:ext cx="2743200" cy="2194560"/>
          </a:xfrm>
          <a:prstGeom prst="triangle">
            <a:avLst/>
          </a:prstGeom>
          <a:solidFill>
            <a:srgbClr val="26306E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23317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 MOUNTAIN RESORT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77240" y="2697480"/>
            <a:ext cx="8686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Ticket Pricing Strategy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822960" y="361188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data-driven recommendation on ticket price and facility investment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22960" y="61264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for the Executive Team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475720" y="320040"/>
            <a:ext cx="384048" cy="326441"/>
          </a:xfrm>
          <a:prstGeom prst="triangle">
            <a:avLst/>
          </a:prstGeom>
          <a:solidFill>
            <a:srgbClr val="1E2761">
              <a:alpha val="3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572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6B75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Identification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777240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Our Ticket Price Is a Guess, Not a Number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640080" y="1828800"/>
            <a:ext cx="3291840" cy="1920240"/>
          </a:xfrm>
          <a:prstGeom prst="roundRect">
            <a:avLst>
              <a:gd name="adj" fmla="val 3810"/>
            </a:avLst>
          </a:prstGeom>
          <a:solidFill>
            <a:srgbClr val="F4F6FC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2148840"/>
            <a:ext cx="2743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$81.00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914400" y="280720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6B75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adult weekend ticket price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14400" y="306324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B75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primarily by intuition, not benchmarked against the market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572000" y="187452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0" y="1874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5193792" y="1828800"/>
            <a:ext cx="60533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competitive benchmark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5193792" y="2130552"/>
            <a:ext cx="6053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6B75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systematic comparison of price to amenities across the ~300 resorts we compete with.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4572000" y="292608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0" y="2926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5193792" y="2880360"/>
            <a:ext cx="60533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Unclear value drivers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5193792" y="3182112"/>
            <a:ext cx="6053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6B75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don't know which facilities (terrain, lifts, snowmaking) actually support a higher price.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4572000" y="397764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8" name="Text 16"/>
          <p:cNvSpPr/>
          <p:nvPr/>
        </p:nvSpPr>
        <p:spPr>
          <a:xfrm>
            <a:off x="4572000" y="3977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5193792" y="3931920"/>
            <a:ext cx="60533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at risk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5193792" y="4233672"/>
            <a:ext cx="6053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6B75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data, we risk leaving revenue on the table — or pricing above what our facilities justify.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5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 Mountain Resort  |  Guided Capstone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133856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5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475720" y="320040"/>
            <a:ext cx="384048" cy="326441"/>
          </a:xfrm>
          <a:prstGeom prst="triangle">
            <a:avLst/>
          </a:prstGeom>
          <a:solidFill>
            <a:srgbClr val="1E2761">
              <a:alpha val="3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572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6B75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Identification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777240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Letting the Market Set the Benchmark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640080" y="1691640"/>
            <a:ext cx="10424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compiled ticket price and amenity data for over 300 U.S. ski resorts, benchmarked Big Mountain's facilities against that market, and built a model that predicts ticket price from resort amenities.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40080" y="2743200"/>
            <a:ext cx="3429000" cy="2377440"/>
          </a:xfrm>
          <a:prstGeom prst="roundRect">
            <a:avLst>
              <a:gd name="adj" fmla="val 3077"/>
            </a:avLst>
          </a:prstGeom>
          <a:solidFill>
            <a:srgbClr val="F4F6FC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3017520"/>
            <a:ext cx="2880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300+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914400" y="3794760"/>
            <a:ext cx="2880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6B75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Resorts analyzed nationally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297680" y="2743200"/>
            <a:ext cx="3429000" cy="2377440"/>
          </a:xfrm>
          <a:prstGeom prst="roundRect">
            <a:avLst>
              <a:gd name="adj" fmla="val 3077"/>
            </a:avLst>
          </a:prstGeom>
          <a:solidFill>
            <a:srgbClr val="F4F6FC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0" y="3017520"/>
            <a:ext cx="2880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Top-tier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4572000" y="3794760"/>
            <a:ext cx="2880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6B75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 Mountain's vertical drop, run count &amp; snowmaking rank near the top of the market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7955280" y="2743200"/>
            <a:ext cx="3429000" cy="2377440"/>
          </a:xfrm>
          <a:prstGeom prst="roundRect">
            <a:avLst>
              <a:gd name="adj" fmla="val 3077"/>
            </a:avLst>
          </a:prstGeom>
          <a:solidFill>
            <a:srgbClr val="F4F6FC"/>
          </a:solidFill>
          <a:ln/>
        </p:spPr>
      </p:sp>
      <p:sp>
        <p:nvSpPr>
          <p:cNvPr id="13" name="Text 11"/>
          <p:cNvSpPr/>
          <p:nvPr/>
        </p:nvSpPr>
        <p:spPr>
          <a:xfrm>
            <a:off x="8229600" y="3017520"/>
            <a:ext cx="2880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 model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8229600" y="3794760"/>
            <a:ext cx="2880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6B75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single, cross-validated model to price-test every future decision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5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 Mountain Resort  |  Guided Capstone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133856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5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4206240"/>
            <a:ext cx="3017520" cy="2377440"/>
          </a:xfrm>
          <a:prstGeom prst="triangle">
            <a:avLst/>
          </a:prstGeom>
          <a:solidFill>
            <a:srgbClr val="141B49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5720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 &amp; Key Findings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77724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Big Mountain Is Underpriced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822960" y="2103120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8892B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$81.00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822960" y="297180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price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297680" y="214884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4400" dirty="0"/>
          </a:p>
        </p:txBody>
      </p:sp>
      <p:sp>
        <p:nvSpPr>
          <p:cNvPr id="8" name="Text 6"/>
          <p:cNvSpPr/>
          <p:nvPr/>
        </p:nvSpPr>
        <p:spPr>
          <a:xfrm>
            <a:off x="5349240" y="2103120"/>
            <a:ext cx="3474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$95.87</a:t>
            </a:r>
            <a:endParaRPr lang="en-US" sz="5200" dirty="0"/>
          </a:p>
        </p:txBody>
      </p:sp>
      <p:sp>
        <p:nvSpPr>
          <p:cNvPr id="9" name="Text 7"/>
          <p:cNvSpPr/>
          <p:nvPr/>
        </p:nvSpPr>
        <p:spPr>
          <a:xfrm>
            <a:off x="5349240" y="297180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Model-supported price, given our facilities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40080" y="3840480"/>
            <a:ext cx="8778240" cy="0"/>
          </a:xfrm>
          <a:prstGeom prst="line">
            <a:avLst/>
          </a:prstGeom>
          <a:noFill/>
          <a:ln w="12700">
            <a:solidFill>
              <a:srgbClr val="39437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4114800"/>
            <a:ext cx="89611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 allowing for the model's typical error of about $9.50, the gap between our current price and what the market supports is large enough to act on. We recommend raising the adult weekend ticket price, and pairing that increase with a targeted facility investment (Scenario 2, next section) for the strongest revenue return.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5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 Mountain Resort  |  Guided Capstone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133856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5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475720" y="320040"/>
            <a:ext cx="384048" cy="326441"/>
          </a:xfrm>
          <a:prstGeom prst="triangle">
            <a:avLst/>
          </a:prstGeom>
          <a:solidFill>
            <a:srgbClr val="1E2761">
              <a:alpha val="3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572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6B75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Modeling Results &amp; Analysis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777240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Choosing the Right Model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640080" y="1600200"/>
            <a:ext cx="5029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5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tested a naive baseline (average price), a tuned linear regression, and a tuned random forest — scored by mean absolute error (MAE) in dollars via cross-validation.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640080" y="2880360"/>
            <a:ext cx="5029200" cy="2468880"/>
          </a:xfrm>
          <a:prstGeom prst="roundRect">
            <a:avLst>
              <a:gd name="adj" fmla="val 2963"/>
            </a:avLst>
          </a:prstGeom>
          <a:solidFill>
            <a:srgbClr val="F4F6FC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31089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selected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914400" y="3520440"/>
            <a:ext cx="45720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35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Lowest cross-validated error: $9.64 ± $1.35</a:t>
            </a:r>
            <a:endParaRPr lang="en-US" sz="13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35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Lowest variability across folds</a:t>
            </a:r>
            <a:endParaRPr lang="en-US" sz="13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35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Held-out test error ($9.54) matched the cross-validation estimate</a:t>
            </a:r>
            <a:endParaRPr lang="en-US" sz="1350" dirty="0"/>
          </a:p>
        </p:txBody>
      </p:sp>
      <p:graphicFrame>
        <p:nvGraphicFramePr>
          <p:cNvPr id="9" name="Chart 0" descr=""/>
          <p:cNvGraphicFramePr/>
          <p:nvPr/>
        </p:nvGraphicFramePr>
        <p:xfrm>
          <a:off x="5989320" y="1554480"/>
          <a:ext cx="5577840" cy="40233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0" name="Text 7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5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 Mountain Resort  |  Guided Capstone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1133856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5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475720" y="320040"/>
            <a:ext cx="384048" cy="326441"/>
          </a:xfrm>
          <a:prstGeom prst="triangle">
            <a:avLst/>
          </a:prstGeom>
          <a:solidFill>
            <a:srgbClr val="1E2761">
              <a:alpha val="3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572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6B75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Modeling Results &amp; Analysis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777240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Actually Drives Ticket Price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640080" y="1645920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the linear model and the random forest agree on the top drivers of price, which gives us confidence in the results: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640080" y="2331720"/>
            <a:ext cx="2606040" cy="3017520"/>
          </a:xfrm>
          <a:prstGeom prst="roundRect">
            <a:avLst>
              <a:gd name="adj" fmla="val 2807"/>
            </a:avLst>
          </a:prstGeom>
          <a:solidFill>
            <a:srgbClr val="F4F6FC"/>
          </a:solidFill>
          <a:ln/>
        </p:spPr>
      </p:sp>
      <p:sp>
        <p:nvSpPr>
          <p:cNvPr id="7" name="Shape 5"/>
          <p:cNvSpPr/>
          <p:nvPr/>
        </p:nvSpPr>
        <p:spPr>
          <a:xfrm>
            <a:off x="868680" y="260604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8" name="Text 6"/>
          <p:cNvSpPr/>
          <p:nvPr/>
        </p:nvSpPr>
        <p:spPr>
          <a:xfrm>
            <a:off x="868680" y="26060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#1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68680" y="3246120"/>
            <a:ext cx="2148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Quads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68680" y="3749040"/>
            <a:ext cx="2148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6B75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 of high-speed quad chairlifts — the single strongest predictor of price.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3383280" y="2331720"/>
            <a:ext cx="2606040" cy="3017520"/>
          </a:xfrm>
          <a:prstGeom prst="roundRect">
            <a:avLst>
              <a:gd name="adj" fmla="val 2807"/>
            </a:avLst>
          </a:prstGeom>
          <a:solidFill>
            <a:srgbClr val="F4F6FC"/>
          </a:solidFill>
          <a:ln/>
        </p:spPr>
      </p:sp>
      <p:sp>
        <p:nvSpPr>
          <p:cNvPr id="12" name="Shape 10"/>
          <p:cNvSpPr/>
          <p:nvPr/>
        </p:nvSpPr>
        <p:spPr>
          <a:xfrm>
            <a:off x="3611880" y="260604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3" name="Text 11"/>
          <p:cNvSpPr/>
          <p:nvPr/>
        </p:nvSpPr>
        <p:spPr>
          <a:xfrm>
            <a:off x="3611880" y="26060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#2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3611880" y="3246120"/>
            <a:ext cx="2148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611880" y="3749040"/>
            <a:ext cx="2148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6B75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number of trails — more terrain variety supports a higher price.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126480" y="2331720"/>
            <a:ext cx="2606040" cy="3017520"/>
          </a:xfrm>
          <a:prstGeom prst="roundRect">
            <a:avLst>
              <a:gd name="adj" fmla="val 2807"/>
            </a:avLst>
          </a:prstGeom>
          <a:solidFill>
            <a:srgbClr val="F4F6FC"/>
          </a:solidFill>
          <a:ln/>
        </p:spPr>
      </p:sp>
      <p:sp>
        <p:nvSpPr>
          <p:cNvPr id="17" name="Shape 15"/>
          <p:cNvSpPr/>
          <p:nvPr/>
        </p:nvSpPr>
        <p:spPr>
          <a:xfrm>
            <a:off x="6355080" y="260604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8" name="Text 16"/>
          <p:cNvSpPr/>
          <p:nvPr/>
        </p:nvSpPr>
        <p:spPr>
          <a:xfrm>
            <a:off x="6355080" y="26060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#3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355080" y="3246120"/>
            <a:ext cx="2148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Snow-Making Acreage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355080" y="3749040"/>
            <a:ext cx="2148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6B75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Guaranteed coverage matters to skiers; a strong positive driver in both models.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8869680" y="2331720"/>
            <a:ext cx="2606040" cy="3017520"/>
          </a:xfrm>
          <a:prstGeom prst="roundRect">
            <a:avLst>
              <a:gd name="adj" fmla="val 2807"/>
            </a:avLst>
          </a:prstGeom>
          <a:solidFill>
            <a:srgbClr val="F4F6FC"/>
          </a:solidFill>
          <a:ln/>
        </p:spPr>
      </p:sp>
      <p:sp>
        <p:nvSpPr>
          <p:cNvPr id="22" name="Shape 20"/>
          <p:cNvSpPr/>
          <p:nvPr/>
        </p:nvSpPr>
        <p:spPr>
          <a:xfrm>
            <a:off x="9098280" y="260604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3" name="Text 21"/>
          <p:cNvSpPr/>
          <p:nvPr/>
        </p:nvSpPr>
        <p:spPr>
          <a:xfrm>
            <a:off x="9098280" y="26060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#4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9098280" y="3246120"/>
            <a:ext cx="2148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Vertical Drop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9098280" y="3749040"/>
            <a:ext cx="2148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6B75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 Mountain's biggest natural advantage — consistently the top positive feature in the linear model.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5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 Mountain Resort  |  Guided Capstone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133856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5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475720" y="320040"/>
            <a:ext cx="384048" cy="326441"/>
          </a:xfrm>
          <a:prstGeom prst="triangle">
            <a:avLst/>
          </a:prstGeom>
          <a:solidFill>
            <a:srgbClr val="1E2761">
              <a:alpha val="3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572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6B75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Modeling Results &amp; Analysis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777240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Scenario: A Free Cost Reduction</a:t>
            </a:r>
            <a:endParaRPr lang="en-US" sz="32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640080" y="1600200"/>
          <a:ext cx="6675120" cy="39319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7589520" y="1920240"/>
            <a:ext cx="3977640" cy="3200400"/>
          </a:xfrm>
          <a:prstGeom prst="roundRect">
            <a:avLst>
              <a:gd name="adj" fmla="val 2286"/>
            </a:avLst>
          </a:prstGeom>
          <a:solidFill>
            <a:srgbClr val="F4F6FC"/>
          </a:solidFill>
          <a:ln/>
        </p:spPr>
      </p:sp>
      <p:sp>
        <p:nvSpPr>
          <p:cNvPr id="7" name="Text 4"/>
          <p:cNvSpPr/>
          <p:nvPr/>
        </p:nvSpPr>
        <p:spPr>
          <a:xfrm>
            <a:off x="7863840" y="219456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 up to 4–5 runs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7863840" y="2697480"/>
            <a:ext cx="3474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Closing the single least-used run costs nothing. Closing up to 4–5 of the least-used runs costs only about $0.67 in supported ticket price — essentially free.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7863840" y="3977640"/>
            <a:ext cx="3474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i="1" dirty="0">
                <a:solidFill>
                  <a:srgbClr val="6B75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Losses accelerate beyond 6 closures — we recommend stopping at 4–5 runs.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5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 Mountain Resort  |  Guided Capstone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1133856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5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475720" y="320040"/>
            <a:ext cx="384048" cy="326441"/>
          </a:xfrm>
          <a:prstGeom prst="triangle">
            <a:avLst/>
          </a:prstGeom>
          <a:solidFill>
            <a:srgbClr val="1E2761">
              <a:alpha val="3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572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6B75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Modeling Results &amp; Analysis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777240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Scenario: Where Investment Pays Off</a:t>
            </a:r>
            <a:endParaRPr lang="en-US" sz="32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640080" y="1600200"/>
          <a:ext cx="7315200" cy="40233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8229600" y="1920240"/>
            <a:ext cx="3337560" cy="3749040"/>
          </a:xfrm>
          <a:prstGeom prst="roundRect">
            <a:avLst>
              <a:gd name="adj" fmla="val 2192"/>
            </a:avLst>
          </a:prstGeom>
          <a:solidFill>
            <a:srgbClr val="F4F6FC"/>
          </a:solidFill>
          <a:ln/>
        </p:spPr>
      </p:sp>
      <p:sp>
        <p:nvSpPr>
          <p:cNvPr id="7" name="Text 4"/>
          <p:cNvSpPr/>
          <p:nvPr/>
        </p:nvSpPr>
        <p:spPr>
          <a:xfrm>
            <a:off x="8458200" y="2148840"/>
            <a:ext cx="288036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Adding a run, raising vertical drop by 150 ft, and adding a chair lift supports a $1.99 price increase — about $3.47M/season.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Extra snowmaking on top of that adds nothing — not worth the investment.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Lengthening the longest run plus more snowmaking has no measurable effect on price or revenue.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5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 Mountain Resort  |  Guided Capstone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1133856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5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4480560"/>
            <a:ext cx="3017520" cy="2377440"/>
          </a:xfrm>
          <a:prstGeom prst="triangle">
            <a:avLst/>
          </a:prstGeom>
          <a:solidFill>
            <a:srgbClr val="141B49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5720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 &amp; Conclusion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777240"/>
            <a:ext cx="9144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Our Recommendation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640080" y="1874520"/>
            <a:ext cx="402336" cy="402336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87452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234440" y="1819656"/>
            <a:ext cx="9692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Raise the adult weekend ticket price — our facilities support a price well above the current $81.00.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40080" y="2834640"/>
            <a:ext cx="402336" cy="402336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283464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234440" y="2779776"/>
            <a:ext cx="9692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 run, increase vertical drop by 150 ft, and install a chair lift — the highest-return investment, worth an estimated $3.47M in additional season revenue.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40080" y="3794760"/>
            <a:ext cx="402336" cy="402336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37947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234440" y="3739896"/>
            <a:ext cx="9692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 4–5 of the least-used runs to reduce operating costs with essentially no impact on ticket price.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640080" y="4754880"/>
            <a:ext cx="402336" cy="402336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475488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234440" y="4700016"/>
            <a:ext cx="9692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 off on extra snowmaking acreage or lengthening the longest run — the data shows no return on either.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640080" y="5806440"/>
            <a:ext cx="8778240" cy="0"/>
          </a:xfrm>
          <a:prstGeom prst="line">
            <a:avLst/>
          </a:prstGeom>
          <a:noFill/>
          <a:ln w="12700">
            <a:solidFill>
              <a:srgbClr val="39437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0080" y="5989320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Together, these moves put Big Mountain's pricing and investment strategy on a data-driven foundation — built on a cross-validated model, not intuition.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2026-07-26T20:17:24Z</dcterms:created>
  <dcterms:modified xsi:type="dcterms:W3CDTF">2026-07-26T20:17:24Z</dcterms:modified>
</cp:coreProperties>
</file>